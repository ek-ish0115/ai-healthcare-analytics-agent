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1119" r:id="rId2"/>
    <p:sldId id="1170" r:id="rId3"/>
    <p:sldId id="1165" r:id="rId4"/>
    <p:sldId id="1171" r:id="rId5"/>
    <p:sldId id="1172" r:id="rId6"/>
    <p:sldId id="1173" r:id="rId7"/>
    <p:sldId id="1174" r:id="rId8"/>
    <p:sldId id="1175" r:id="rId9"/>
    <p:sldId id="1176" r:id="rId10"/>
    <p:sldId id="1177" r:id="rId11"/>
    <p:sldId id="1178" r:id="rId12"/>
    <p:sldId id="1179" r:id="rId13"/>
    <p:sldId id="1180" r:id="rId14"/>
    <p:sldId id="1181" r:id="rId15"/>
    <p:sldId id="30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9A"/>
    <a:srgbClr val="2CB22F"/>
    <a:srgbClr val="AEFCFC"/>
    <a:srgbClr val="E0C1FF"/>
    <a:srgbClr val="CC99FF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412" autoAdjust="0"/>
  </p:normalViewPr>
  <p:slideViewPr>
    <p:cSldViewPr snapToGrid="0">
      <p:cViewPr varScale="1">
        <p:scale>
          <a:sx n="56" d="100"/>
          <a:sy n="56" d="100"/>
        </p:scale>
        <p:origin x="10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5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29682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3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tesh622/AI_Business_Analyst_Agent" TargetMode="External"/><Relationship Id="rId2" Type="http://schemas.openxmlformats.org/officeDocument/2006/relationships/hyperlink" Target="http://localhost:5678/form-test/dcd5d49d-b502-4f9f-a9e2-fc3e5e66e4ad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096000" y="1752065"/>
            <a:ext cx="586002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500" b="1" kern="0" dirty="0">
                <a:solidFill>
                  <a:srgbClr val="00589A"/>
                </a:solidFill>
                <a:cs typeface="Arial"/>
                <a:sym typeface="Arial"/>
              </a:rPr>
              <a:t>AI HEALTHCARE ANALYTICS AGENT</a:t>
            </a:r>
          </a:p>
          <a:p>
            <a:pPr algn="ctr" defTabSz="1219170">
              <a:buClr>
                <a:srgbClr val="000000"/>
              </a:buClr>
            </a:pPr>
            <a:endParaRPr lang="en-US" sz="3500" b="1" kern="0" dirty="0">
              <a:solidFill>
                <a:prstClr val="black">
                  <a:lumMod val="85000"/>
                  <a:lumOff val="15000"/>
                </a:prstClr>
              </a:solidFill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400" kern="0" dirty="0">
                <a:solidFill>
                  <a:prstClr val="black">
                    <a:lumMod val="85000"/>
                    <a:lumOff val="15000"/>
                  </a:prstClr>
                </a:solidFill>
                <a:cs typeface="Arial"/>
                <a:sym typeface="Arial"/>
              </a:rPr>
              <a:t>(Automated Patient &amp; Healthcare Operations Insights System)</a:t>
            </a:r>
          </a:p>
          <a:p>
            <a:pPr algn="ctr" defTabSz="1219170">
              <a:buClr>
                <a:srgbClr val="000000"/>
              </a:buClr>
            </a:pPr>
            <a:endParaRPr lang="en-IN" sz="2500" b="1" kern="0" dirty="0">
              <a:solidFill>
                <a:prstClr val="black">
                  <a:lumMod val="85000"/>
                  <a:lumOff val="15000"/>
                </a:prstClr>
              </a:solidFill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500" b="1" kern="0" dirty="0">
              <a:solidFill>
                <a:prstClr val="black">
                  <a:lumMod val="85000"/>
                  <a:lumOff val="15000"/>
                </a:prstClr>
              </a:solidFill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500" b="1" kern="0" dirty="0">
                <a:solidFill>
                  <a:prstClr val="black">
                    <a:lumMod val="85000"/>
                    <a:lumOff val="15000"/>
                  </a:prstClr>
                </a:solidFill>
                <a:cs typeface="Arial"/>
                <a:sym typeface="Arial"/>
              </a:rPr>
              <a:t>-Ekta Grewal</a:t>
            </a: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DA984-D9DE-A424-07FB-41B685C3F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447" y="1137599"/>
            <a:ext cx="11297106" cy="497806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Business Problem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Project Objectives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Solution Architecture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Technology Stack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Healthcare Data Sources &amp; Data Model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Workflow Implementation in n8n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Healthcare KPI Analytics &amp; Anomaly Detection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Patient &amp; Department Performance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AI-Powered Healthcare Operations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Business Value &amp; Benefits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Live Demonstration &amp; Project Resources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Conclusion &amp; Key Achievements</a:t>
            </a:r>
            <a:endParaRPr lang="en-US" sz="1700" dirty="0">
              <a:latin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F5D07-DB01-758D-7728-D416BBFA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A8A4F-8662-F3C0-56EC-5FCF4CDC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pic>
        <p:nvPicPr>
          <p:cNvPr id="6" name="Picture 5" descr="Agendas – Haltham Parish Meeting">
            <a:extLst>
              <a:ext uri="{FF2B5EF4-FFF2-40B4-BE49-F238E27FC236}">
                <a16:creationId xmlns:a16="http://schemas.microsoft.com/office/drawing/2014/main" id="{035D0718-1483-A6D5-1A09-843083D31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986" y="1490892"/>
            <a:ext cx="3330286" cy="360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9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DA984-D9DE-A424-07FB-41B685C3F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071" y="924236"/>
            <a:ext cx="11421170" cy="828367"/>
          </a:xfrm>
        </p:spPr>
        <p:txBody>
          <a:bodyPr>
            <a:noAutofit/>
          </a:bodyPr>
          <a:lstStyle/>
          <a:p>
            <a:pPr marL="203195" indent="0">
              <a:buNone/>
            </a:pPr>
            <a:r>
              <a:rPr dirty="0">
                <a:latin typeface="+mn-lt"/>
              </a:rPr>
              <a:t>Healthcare organizations generate large volumes of patient and operational data every day, making continuous monitoring and analysis increasingly challenging.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F5D07-DB01-758D-7728-D416BBFA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A8A4F-8662-F3C0-56EC-5FCF4CDC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A1E72C3E-0076-CEF9-C0E6-0AA4BFF44400}"/>
              </a:ext>
            </a:extLst>
          </p:cNvPr>
          <p:cNvSpPr txBox="1">
            <a:spLocks/>
          </p:cNvSpPr>
          <p:nvPr/>
        </p:nvSpPr>
        <p:spPr>
          <a:xfrm>
            <a:off x="464071" y="1626020"/>
            <a:ext cx="5631929" cy="4788427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Font typeface="Arial"/>
              <a:buNone/>
            </a:pPr>
            <a:r>
              <a:rPr lang="en-US" sz="1800" b="1" kern="0" dirty="0">
                <a:latin typeface="+mn-lt"/>
              </a:rPr>
              <a:t>Key Challenges</a:t>
            </a:r>
          </a:p>
          <a:p>
            <a:pPr marL="203195" indent="0">
              <a:buFont typeface="Arial"/>
              <a:buNone/>
            </a:pPr>
            <a:endParaRPr lang="en-US" sz="1700" b="1" kern="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Manual healthcare KPI monitoring and reporting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Delayed identification of patient-volume and operational trends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Limited visibility across departments and hospital operations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Time-consuming analysis of admissions, billing and clinical records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Healthcare insights often require significant analyst effort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Increasing data volume across multiple related tables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E7F03F1-4DEC-5BBF-F7E4-074C6081E337}"/>
              </a:ext>
            </a:extLst>
          </p:cNvPr>
          <p:cNvSpPr txBox="1">
            <a:spLocks/>
          </p:cNvSpPr>
          <p:nvPr/>
        </p:nvSpPr>
        <p:spPr>
          <a:xfrm>
            <a:off x="6204234" y="1626020"/>
            <a:ext cx="5119673" cy="3864564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Font typeface="Arial"/>
              <a:buNone/>
            </a:pPr>
            <a:r>
              <a:rPr lang="en-US" sz="1800" b="1" kern="0" dirty="0">
                <a:latin typeface="+mn-lt"/>
              </a:rPr>
              <a:t>Business Need</a:t>
            </a:r>
          </a:p>
          <a:p>
            <a:pPr marL="203195" indent="0">
              <a:buFont typeface="Arial"/>
              <a:buNone/>
            </a:pPr>
            <a:endParaRPr lang="en-US" sz="1800" b="1" kern="0" dirty="0">
              <a:latin typeface="+mn-lt"/>
            </a:endParaRPr>
          </a:p>
          <a:p>
            <a:pPr marL="203195" indent="0">
              <a:buFont typeface="Arial"/>
              <a:buNone/>
            </a:pPr>
            <a:r>
              <a:rPr lang="en-IN" sz="1700" kern="0" dirty="0">
                <a:latin typeface="+mn-lt"/>
              </a:rPr>
              <a:t>An intelligent AI-powered solution that can automatically:</a:t>
            </a:r>
            <a:br>
              <a:rPr lang="en-IN" sz="1700" kern="0" dirty="0">
                <a:latin typeface="+mn-lt"/>
              </a:rPr>
            </a:br>
            <a:endParaRPr lang="en-IN" sz="1700" kern="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Monitor healthcare KPIs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Analyze patient and department trends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Detect operational anomalies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Answer healthcare operations questions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Generate clear management insights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kern="0" dirty="0">
                <a:latin typeface="+mn-lt"/>
              </a:rPr>
              <a:t>Support faster data-driven decisions</a:t>
            </a:r>
            <a:endParaRPr lang="en-US" sz="160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991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4EAA4-BA4A-F662-FC5B-6E8BB0174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AC2EE7-59E0-81B2-F19E-366C79CD8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447" y="1137599"/>
            <a:ext cx="11297106" cy="828367"/>
          </a:xfrm>
        </p:spPr>
        <p:txBody>
          <a:bodyPr>
            <a:noAutofit/>
          </a:bodyPr>
          <a:lstStyle/>
          <a:p>
            <a:pPr marL="203195" indent="0">
              <a:buNone/>
            </a:pPr>
            <a:r>
              <a:rPr dirty="0">
                <a:latin typeface="+mn-lt"/>
              </a:rPr>
              <a:t>To develop an AI-powered Healthcare Analytics Agent that automatically queries healthcare data, analyzes patient and operational KPIs, detects trends and anomalies, and delivers clear insights to healthcare management teams.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38D4B0-3817-CCB1-19B7-2D9AF7AFE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PROJECT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02A62-826D-1B17-FFA0-E523B3C6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EFDD281-24C7-340E-1B96-2C2824D99CFC}"/>
              </a:ext>
            </a:extLst>
          </p:cNvPr>
          <p:cNvSpPr txBox="1">
            <a:spLocks/>
          </p:cNvSpPr>
          <p:nvPr/>
        </p:nvSpPr>
        <p:spPr>
          <a:xfrm>
            <a:off x="447447" y="2257924"/>
            <a:ext cx="5648553" cy="3864564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Font typeface="Arial"/>
              <a:buNone/>
            </a:pPr>
            <a:r>
              <a:rPr lang="en-US" sz="1800" b="1" kern="0" dirty="0">
                <a:latin typeface="+mn-lt"/>
              </a:rPr>
              <a:t>Key Objectives</a:t>
            </a:r>
          </a:p>
          <a:p>
            <a:pPr marL="203195" indent="0">
              <a:buFont typeface="Arial"/>
              <a:buNone/>
            </a:pPr>
            <a:endParaRPr lang="en-US" sz="1700" b="1" kern="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Healthcare KPI Automation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Patient &amp; Department Trend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Anomaly Detection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AI-Generated Operational Insights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Natural-Language Healthcare Queries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Automated Reporting &amp; Visualization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92FB87-3A6B-F06A-EBE4-074A6F004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637" y="2257924"/>
            <a:ext cx="5589270" cy="372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DFFF5-DCE3-66AA-3465-7FE43364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0ED1667-C4AD-6BC0-FF83-EF1E9BBF0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82"/>
          <a:stretch>
            <a:fillRect/>
          </a:stretch>
        </p:blipFill>
        <p:spPr>
          <a:xfrm>
            <a:off x="334954" y="1240077"/>
            <a:ext cx="11522091" cy="450727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B86C0BA-6C15-6AEA-CE80-A3AD4610E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SOLUTION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11688-8295-F35F-7EF5-B108F3EE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FB50312-F045-4E52-F664-E23FDBB47254}"/>
              </a:ext>
            </a:extLst>
          </p:cNvPr>
          <p:cNvSpPr txBox="1">
            <a:spLocks/>
          </p:cNvSpPr>
          <p:nvPr/>
        </p:nvSpPr>
        <p:spPr>
          <a:xfrm>
            <a:off x="167616" y="5373331"/>
            <a:ext cx="11522091" cy="930925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lnSpc>
                <a:spcPct val="150000"/>
              </a:lnSpc>
              <a:buFont typeface="Arial"/>
              <a:buNone/>
            </a:pPr>
            <a:r>
              <a:rPr lang="en-US" sz="2000" b="1" kern="0" dirty="0">
                <a:latin typeface="+mn-lt"/>
              </a:rPr>
              <a:t>Key Components:</a:t>
            </a:r>
          </a:p>
          <a:p>
            <a:pPr marL="203195" indent="0" fontAlgn="ctr">
              <a:lnSpc>
                <a:spcPct val="150000"/>
              </a:lnSpc>
              <a:buNone/>
            </a:pPr>
            <a:r>
              <a:rPr lang="en-IN" sz="1600" dirty="0">
                <a:solidFill>
                  <a:schemeClr val="tx1"/>
                </a:solidFill>
                <a:latin typeface="+mn-lt"/>
              </a:rPr>
              <a:t>Healthcare Form, Microsoft SQL Server, SQL Query Planner, KPI &amp; Trend Engine, AI Healthcare Insight Agent, Gmail</a:t>
            </a:r>
          </a:p>
          <a:p>
            <a:pPr marL="203195" indent="0">
              <a:lnSpc>
                <a:spcPct val="150000"/>
              </a:lnSpc>
              <a:buFont typeface="Arial"/>
              <a:buNone/>
            </a:pPr>
            <a:endParaRPr lang="en-US" sz="1800" b="1" kern="0" dirty="0">
              <a:latin typeface="+mn-lt"/>
            </a:endParaRPr>
          </a:p>
          <a:p>
            <a:pPr marL="203195" indent="0">
              <a:lnSpc>
                <a:spcPct val="150000"/>
              </a:lnSpc>
              <a:buFont typeface="Arial"/>
              <a:buNone/>
            </a:pPr>
            <a:endParaRPr lang="en-US" sz="1700" b="1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843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3B54-22B8-8085-B75D-1BA8581B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E59A13-89FD-8246-EC84-39EDD82B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TECHNOLOGY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4BBD3-CEE6-430D-FC20-7B996969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43CD830-017F-752D-E4A5-AE6387E067BD}"/>
              </a:ext>
            </a:extLst>
          </p:cNvPr>
          <p:cNvSpPr txBox="1">
            <a:spLocks/>
          </p:cNvSpPr>
          <p:nvPr/>
        </p:nvSpPr>
        <p:spPr>
          <a:xfrm>
            <a:off x="758399" y="1790672"/>
            <a:ext cx="2179111" cy="113760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sz="1400" dirty="0">
                <a:latin typeface="+mn-lt"/>
              </a:rPr>
              <a:t>🟠 </a:t>
            </a:r>
            <a:r>
              <a:rPr sz="1600" b="1" dirty="0">
                <a:latin typeface="+mn-lt"/>
              </a:rPr>
              <a:t>n8n Local</a:t>
            </a:r>
            <a:endParaRPr lang="en-IN" sz="1600" b="1" dirty="0">
              <a:latin typeface="+mn-lt"/>
            </a:endParaRPr>
          </a:p>
          <a:p>
            <a:pPr marL="203195" indent="0">
              <a:buNone/>
            </a:pPr>
            <a:br>
              <a:rPr dirty="0">
                <a:latin typeface="+mn-lt"/>
              </a:rPr>
            </a:br>
            <a:r>
              <a:rPr sz="1400" dirty="0">
                <a:latin typeface="+mn-lt"/>
              </a:rPr>
              <a:t>Workflow Automation &amp; Deployment</a:t>
            </a:r>
            <a:endParaRPr dirty="0">
              <a:latin typeface="+mn-lt"/>
            </a:endParaRP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F32C4AC8-CDBB-52D1-7B53-77C2C480F3EC}"/>
              </a:ext>
            </a:extLst>
          </p:cNvPr>
          <p:cNvSpPr txBox="1">
            <a:spLocks/>
          </p:cNvSpPr>
          <p:nvPr/>
        </p:nvSpPr>
        <p:spPr>
          <a:xfrm>
            <a:off x="4046565" y="3461129"/>
            <a:ext cx="2940763" cy="132162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sz="1600" dirty="0">
                <a:latin typeface="+mn-lt"/>
              </a:rPr>
              <a:t>🗄️ </a:t>
            </a:r>
            <a:r>
              <a:rPr sz="1600" b="1" dirty="0">
                <a:latin typeface="+mn-lt"/>
              </a:rPr>
              <a:t>Microsoft SQL Server</a:t>
            </a:r>
            <a:endParaRPr lang="en-IN" sz="1600" b="1" dirty="0">
              <a:latin typeface="+mn-lt"/>
            </a:endParaRPr>
          </a:p>
          <a:p>
            <a:pPr marL="203195" indent="0">
              <a:buNone/>
            </a:pPr>
            <a:br>
              <a:rPr dirty="0">
                <a:latin typeface="+mn-lt"/>
              </a:rPr>
            </a:br>
            <a:r>
              <a:rPr sz="1400" dirty="0">
                <a:latin typeface="+mn-lt"/>
              </a:rPr>
              <a:t>Healthcare Data Storage &amp; Querying</a:t>
            </a:r>
            <a:endParaRPr dirty="0">
              <a:latin typeface="+mn-lt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6AFAE76-3CFF-79E8-79A5-D4544EF3E051}"/>
              </a:ext>
            </a:extLst>
          </p:cNvPr>
          <p:cNvSpPr txBox="1">
            <a:spLocks/>
          </p:cNvSpPr>
          <p:nvPr/>
        </p:nvSpPr>
        <p:spPr>
          <a:xfrm>
            <a:off x="758399" y="3461130"/>
            <a:ext cx="2674275" cy="132162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sz="1600" b="1" dirty="0"/>
              <a:t>🤖 </a:t>
            </a:r>
            <a:r>
              <a:rPr sz="1600" b="1" dirty="0">
                <a:latin typeface="+mj-lt"/>
              </a:rPr>
              <a:t>Google Gemini</a:t>
            </a:r>
            <a:endParaRPr lang="en-IN" sz="1600" b="1" dirty="0">
              <a:latin typeface="+mj-lt"/>
            </a:endParaRPr>
          </a:p>
          <a:p>
            <a:pPr marL="203195" indent="0">
              <a:buNone/>
            </a:pPr>
            <a:br>
              <a:rPr dirty="0"/>
            </a:br>
            <a:r>
              <a:rPr sz="1400" dirty="0">
                <a:latin typeface="+mn-lt"/>
              </a:rPr>
              <a:t>AI Query Planning &amp; Insight Generation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981A5224-5549-D090-33BD-3AE44A1DBC13}"/>
              </a:ext>
            </a:extLst>
          </p:cNvPr>
          <p:cNvSpPr txBox="1">
            <a:spLocks/>
          </p:cNvSpPr>
          <p:nvPr/>
        </p:nvSpPr>
        <p:spPr>
          <a:xfrm>
            <a:off x="3203997" y="1790673"/>
            <a:ext cx="2551938" cy="11376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203195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ea typeface="Raleway" pitchFamily="2" charset="0"/>
                <a:cs typeface="Calibri" panose="020F0502020204030204" pitchFamily="34" charset="0"/>
              </a:defRPr>
            </a:lvl1pPr>
            <a:lvl2pPr marL="1219170" marR="0" lvl="1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828754" marR="0" lvl="2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2438339" marR="0" lvl="3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3047924" marR="0" lvl="4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3657509" marR="0" lvl="5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4267093" marR="0" lvl="6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4876678" marR="0" lvl="7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5486263" marR="0" lvl="8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dirty="0"/>
              <a:t>📜 </a:t>
            </a:r>
            <a:r>
              <a:rPr sz="1600" b="1" dirty="0"/>
              <a:t>JavaScript</a:t>
            </a:r>
            <a:endParaRPr lang="en-IN" sz="1600" b="1" dirty="0"/>
          </a:p>
          <a:p>
            <a:br>
              <a:rPr dirty="0"/>
            </a:br>
            <a:r>
              <a:rPr dirty="0"/>
              <a:t>Data Processing &amp; KPI Logic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AA9F0F55-6866-EF4C-A806-23FE6CE2654B}"/>
              </a:ext>
            </a:extLst>
          </p:cNvPr>
          <p:cNvSpPr txBox="1">
            <a:spLocks/>
          </p:cNvSpPr>
          <p:nvPr/>
        </p:nvSpPr>
        <p:spPr>
          <a:xfrm>
            <a:off x="8685746" y="1790672"/>
            <a:ext cx="2674275" cy="11376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sz="1600" b="1" dirty="0">
                <a:latin typeface="+mj-lt"/>
              </a:rPr>
              <a:t>📝 n8n Form Trigger</a:t>
            </a:r>
            <a:endParaRPr lang="en-IN" sz="1600" b="1" dirty="0">
              <a:latin typeface="+mj-lt"/>
            </a:endParaRPr>
          </a:p>
          <a:p>
            <a:pPr marL="203195" indent="0">
              <a:buNone/>
            </a:pPr>
            <a:br>
              <a:rPr dirty="0"/>
            </a:br>
            <a:r>
              <a:rPr sz="1400" dirty="0">
                <a:latin typeface="+mn-lt"/>
              </a:rPr>
              <a:t>Natural-Language Healthcare Questions</a:t>
            </a:r>
            <a:endParaRPr dirty="0">
              <a:latin typeface="+mn-lt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FDA3DB6-E6F2-E28C-53DD-F9E7CD5749E1}"/>
              </a:ext>
            </a:extLst>
          </p:cNvPr>
          <p:cNvSpPr txBox="1">
            <a:spLocks/>
          </p:cNvSpPr>
          <p:nvPr/>
        </p:nvSpPr>
        <p:spPr>
          <a:xfrm>
            <a:off x="6022422" y="1790672"/>
            <a:ext cx="2396837" cy="113760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203195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</a:defRPr>
            </a:lvl1pPr>
            <a:lvl2pPr marL="1219170" marR="0" lvl="1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828754" marR="0" lvl="2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2438339" marR="0" lvl="3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3047924" marR="0" lvl="4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3657509" marR="0" lvl="5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4267093" marR="0" lvl="6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4876678" marR="0" lvl="7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5486263" marR="0" lvl="8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/>
            <a:r>
              <a:rPr sz="1600" dirty="0">
                <a:latin typeface="+mn-lt"/>
              </a:rPr>
              <a:t>✉️ </a:t>
            </a:r>
            <a:r>
              <a:rPr sz="1600" b="1" dirty="0">
                <a:latin typeface="+mn-lt"/>
              </a:rPr>
              <a:t>Gmail</a:t>
            </a:r>
            <a:endParaRPr lang="en-IN" sz="1600" b="1" dirty="0">
              <a:latin typeface="+mn-lt"/>
            </a:endParaRPr>
          </a:p>
          <a:p>
            <a:pPr algn="l"/>
            <a:br>
              <a:rPr dirty="0">
                <a:latin typeface="+mn-lt"/>
              </a:rPr>
            </a:br>
            <a:r>
              <a:rPr dirty="0">
                <a:latin typeface="+mn-lt"/>
              </a:rPr>
              <a:t>Automated Healthcare Report Delivery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7438124A-4668-3669-CEA9-4FA28B90B5C0}"/>
              </a:ext>
            </a:extLst>
          </p:cNvPr>
          <p:cNvSpPr txBox="1">
            <a:spLocks/>
          </p:cNvSpPr>
          <p:nvPr/>
        </p:nvSpPr>
        <p:spPr>
          <a:xfrm>
            <a:off x="7601219" y="3429000"/>
            <a:ext cx="2674275" cy="132162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sz="1600" b="1" dirty="0">
                <a:latin typeface="+mn-lt"/>
              </a:rPr>
              <a:t>🏥 Healthcare Dataset</a:t>
            </a:r>
            <a:endParaRPr lang="en-IN" sz="1600" b="1" dirty="0">
              <a:latin typeface="+mn-lt"/>
            </a:endParaRPr>
          </a:p>
          <a:p>
            <a:pPr marL="203195" indent="0">
              <a:buNone/>
            </a:pPr>
            <a:br>
              <a:rPr dirty="0">
                <a:latin typeface="+mn-lt"/>
              </a:rPr>
            </a:br>
            <a:r>
              <a:rPr sz="1400" dirty="0">
                <a:latin typeface="+mn-lt"/>
              </a:rPr>
              <a:t>Patients &amp; Operational Records</a:t>
            </a:r>
          </a:p>
        </p:txBody>
      </p:sp>
    </p:spTree>
    <p:extLst>
      <p:ext uri="{BB962C8B-B14F-4D97-AF65-F5344CB8AC3E}">
        <p14:creationId xmlns:p14="http://schemas.microsoft.com/office/powerpoint/2010/main" val="83593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8EFC-36F8-CA4E-FE52-1F06A26E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90FB3C-987F-F517-AACD-99BF36084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HEALTHCARE DATA SOURCES &amp; DATA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040EF-095B-7F7A-4FB7-468B4FC85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E92D99-7A15-83CC-7C07-19C158877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1045210"/>
            <a:ext cx="78105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3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12B4-3997-7885-4040-A9FFE07AA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0C1702-AC51-2E9A-E1F6-14A958D3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WORKFLOW IMPLEMENTATION IN N8N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7F5AB-56BD-BB5F-BD0D-0BF09F74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F174C84-611C-CD54-6EFD-94A0A17809DA}"/>
              </a:ext>
            </a:extLst>
          </p:cNvPr>
          <p:cNvSpPr txBox="1">
            <a:spLocks/>
          </p:cNvSpPr>
          <p:nvPr/>
        </p:nvSpPr>
        <p:spPr>
          <a:xfrm>
            <a:off x="592533" y="4713194"/>
            <a:ext cx="11006934" cy="1243655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US" sz="1800" b="1" kern="0" dirty="0"/>
              <a:t>Key Workflow Features:</a:t>
            </a:r>
          </a:p>
          <a:p>
            <a:pPr marL="203195" indent="0">
              <a:buNone/>
            </a:pPr>
            <a:endParaRPr lang="en-US" sz="1800" b="1" kern="0" dirty="0"/>
          </a:p>
          <a:p>
            <a:pPr marL="203195" indent="0">
              <a:buNone/>
            </a:pPr>
            <a:r>
              <a:rPr lang="en-US" sz="1700" kern="0" dirty="0"/>
              <a:t>End-to-End Healthcare Analytics Automation, Dynamic SQL Query Generation, Multi-Table Healthcare Analysis, Patient &amp; Department KPI Analysis, Trend &amp; Anomaly Detection, AI-Powered Answers, Automated Gmail Reporting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CDE721-13FD-F570-2737-A93CDC4EB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00" y="1224055"/>
            <a:ext cx="10565507" cy="348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35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D5603-3F7C-E8BD-A647-38179A8DF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3708CF-261C-471B-8603-987C6EF16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n-lt"/>
              </a:rPr>
              <a:t>HEALTHCARE KPI ANALYTICS &amp; ANOMALY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437BF-1F24-994E-9EFA-CE0D1BA8C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BEE2DBE-1A76-DB3B-C1EA-E976E50188F3}"/>
              </a:ext>
            </a:extLst>
          </p:cNvPr>
          <p:cNvSpPr txBox="1">
            <a:spLocks/>
          </p:cNvSpPr>
          <p:nvPr/>
        </p:nvSpPr>
        <p:spPr>
          <a:xfrm>
            <a:off x="868094" y="1300350"/>
            <a:ext cx="4818927" cy="3864564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Font typeface="Arial"/>
              <a:buNone/>
            </a:pPr>
            <a:r>
              <a:rPr lang="en-US" sz="1800" b="1" kern="0" dirty="0">
                <a:latin typeface="+mn-lt"/>
              </a:rPr>
              <a:t>Key KPI’s Generated</a:t>
            </a:r>
          </a:p>
          <a:p>
            <a:pPr marL="203195" indent="0">
              <a:buFont typeface="Arial"/>
              <a:buNone/>
            </a:pPr>
            <a:endParaRPr lang="en-US" sz="1700" b="1" kern="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Patient Volume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Admission Volume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Average Length of Stay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Department Patient Volume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Monthly Patient Trends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Hospital Charges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Medication Usage</a:t>
            </a:r>
            <a:endParaRPr lang="en-US" sz="1700" b="1" kern="0" dirty="0">
              <a:latin typeface="+mn-lt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6392C458-8690-7A3C-9C70-20C1786F774E}"/>
              </a:ext>
            </a:extLst>
          </p:cNvPr>
          <p:cNvSpPr txBox="1">
            <a:spLocks/>
          </p:cNvSpPr>
          <p:nvPr/>
        </p:nvSpPr>
        <p:spPr>
          <a:xfrm>
            <a:off x="6504980" y="1299607"/>
            <a:ext cx="4818927" cy="3864564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Font typeface="Arial"/>
              <a:buNone/>
            </a:pPr>
            <a:r>
              <a:rPr lang="en-US" sz="1800" b="1" kern="0" dirty="0">
                <a:latin typeface="+mn-lt"/>
              </a:rPr>
              <a:t>Anomaly Detection Rules </a:t>
            </a:r>
          </a:p>
          <a:p>
            <a:pPr marL="203195" indent="0">
              <a:buFont typeface="Arial"/>
              <a:buNone/>
            </a:pPr>
            <a:endParaRPr lang="en-US" sz="1800" b="1" kern="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kern="0" dirty="0">
                <a:latin typeface="+mn-lt"/>
              </a:rPr>
              <a:t>Monthly patient-volume baseline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kern="0" dirty="0">
                <a:latin typeface="+mn-lt"/>
              </a:rPr>
              <a:t>Upper and lower threshold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kern="0" dirty="0">
                <a:latin typeface="+mn-lt"/>
              </a:rPr>
              <a:t>Highest / lowest patient-volume detection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kern="0" dirty="0">
                <a:latin typeface="+mn-lt"/>
              </a:rPr>
              <a:t>Month-over-month trend comparison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kern="0" dirty="0">
                <a:latin typeface="+mn-lt"/>
              </a:rPr>
              <a:t>Operational anomaly flagging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kern="0" dirty="0">
                <a:latin typeface="+mn-lt"/>
              </a:rPr>
              <a:t>Historical comparison across 24 months</a:t>
            </a:r>
            <a:br>
              <a:rPr lang="en-IN" sz="1700" kern="0" dirty="0">
                <a:latin typeface="+mn-lt"/>
              </a:rPr>
            </a:br>
            <a:endParaRPr lang="en-US" sz="1700" kern="0" dirty="0">
              <a:latin typeface="+mn-lt"/>
            </a:endParaRPr>
          </a:p>
          <a:p>
            <a:endParaRPr lang="en-US" sz="1700" kern="0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83F8AF-5A39-912D-BD37-3A7998BABB38}"/>
              </a:ext>
            </a:extLst>
          </p:cNvPr>
          <p:cNvSpPr txBox="1"/>
          <p:nvPr/>
        </p:nvSpPr>
        <p:spPr>
          <a:xfrm>
            <a:off x="677462" y="4980569"/>
            <a:ext cx="11378045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ea typeface="Calibri" panose="020F0502020204030204" pitchFamily="34" charset="0"/>
                <a:cs typeface="Calibri" panose="020F0502020204030204" pitchFamily="34" charset="0"/>
              </a:rPr>
              <a:t>Automated Analysis Flow:</a:t>
            </a:r>
          </a:p>
          <a:p>
            <a:endParaRPr lang="en-IN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700" dirty="0">
                <a:ea typeface="Calibri" panose="020F0502020204030204" pitchFamily="34" charset="0"/>
                <a:cs typeface="Calibri" panose="020F0502020204030204" pitchFamily="34" charset="0"/>
              </a:rPr>
              <a:t>Healthcare Data ➜ SQL Query Planning ➜ SQL Execution ➜ KPI Calculation ➜ Trend Analysis ➜ Anomaly Detection ➜ AI Insight Generation</a:t>
            </a:r>
          </a:p>
        </p:txBody>
      </p:sp>
    </p:spTree>
    <p:extLst>
      <p:ext uri="{BB962C8B-B14F-4D97-AF65-F5344CB8AC3E}">
        <p14:creationId xmlns:p14="http://schemas.microsoft.com/office/powerpoint/2010/main" val="2288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66BF7-F102-295A-01FC-D603E2FA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60AE5C-43A1-16A1-3F1B-D1FA2D2C6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PATIENT &amp; DEPARTMENT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74C4C-3F69-7461-2AC0-1F6958C7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10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AC5708F-C5A5-745B-B27E-ABE4FC9B8951}"/>
              </a:ext>
            </a:extLst>
          </p:cNvPr>
          <p:cNvSpPr txBox="1">
            <a:spLocks/>
          </p:cNvSpPr>
          <p:nvPr/>
        </p:nvSpPr>
        <p:spPr>
          <a:xfrm>
            <a:off x="868094" y="1300350"/>
            <a:ext cx="4818927" cy="3864564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Font typeface="Arial"/>
              <a:buNone/>
            </a:pPr>
            <a:r>
              <a:rPr lang="en-US" sz="1800" b="1" kern="0" dirty="0">
                <a:latin typeface="+mn-lt"/>
              </a:rPr>
              <a:t>Patient &amp; Department Performance</a:t>
            </a:r>
          </a:p>
          <a:p>
            <a:pPr marL="203195" indent="0">
              <a:buFont typeface="Arial"/>
              <a:buNone/>
            </a:pPr>
            <a:endParaRPr lang="en-US" sz="1700" b="1" kern="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700" dirty="0">
                <a:latin typeface="+mn-lt"/>
              </a:rPr>
              <a:t>Total Patients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700" dirty="0">
                <a:latin typeface="+mn-lt"/>
              </a:rPr>
              <a:t>Patient Volume by Department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700" dirty="0">
                <a:latin typeface="+mn-lt"/>
              </a:rPr>
              <a:t>Highest Patient-Volume Department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700" dirty="0">
                <a:latin typeface="+mn-lt"/>
              </a:rPr>
              <a:t>Monthly Patient Trends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700" dirty="0">
                <a:latin typeface="+mn-lt"/>
              </a:rPr>
              <a:t>Average Length of Stay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700" dirty="0">
                <a:latin typeface="+mn-lt"/>
              </a:rPr>
              <a:t>Readmission Analysis</a:t>
            </a:r>
            <a:endParaRPr lang="en-IN" sz="170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700" dirty="0">
                <a:latin typeface="+mn-lt"/>
              </a:rPr>
              <a:t>Department</a:t>
            </a:r>
            <a:r>
              <a:rPr sz="1600" dirty="0">
                <a:latin typeface="+mn-lt"/>
              </a:rPr>
              <a:t> </a:t>
            </a:r>
            <a:r>
              <a:rPr sz="1700" dirty="0">
                <a:latin typeface="+mn-lt"/>
              </a:rPr>
              <a:t>Capacity</a:t>
            </a:r>
            <a:r>
              <a:rPr sz="1600" dirty="0">
                <a:latin typeface="+mn-lt"/>
              </a:rPr>
              <a:t> </a:t>
            </a:r>
            <a:r>
              <a:rPr sz="1700" dirty="0">
                <a:latin typeface="+mn-lt"/>
              </a:rPr>
              <a:t>Visibility</a:t>
            </a:r>
            <a:endParaRPr lang="en-US" sz="1700" dirty="0">
              <a:latin typeface="+mn-lt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3FF181A-0D9F-8FC1-F619-94A9758CA069}"/>
              </a:ext>
            </a:extLst>
          </p:cNvPr>
          <p:cNvSpPr txBox="1">
            <a:spLocks/>
          </p:cNvSpPr>
          <p:nvPr/>
        </p:nvSpPr>
        <p:spPr>
          <a:xfrm>
            <a:off x="6504980" y="1299607"/>
            <a:ext cx="4818927" cy="3864564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Font typeface="Arial"/>
              <a:buNone/>
            </a:pPr>
            <a:r>
              <a:rPr lang="en-US" sz="1800" b="1" kern="0" dirty="0">
                <a:latin typeface="+mn-lt"/>
              </a:rPr>
              <a:t>Clinical &amp; Operational Intelligence</a:t>
            </a:r>
          </a:p>
          <a:p>
            <a:pPr marL="203195" indent="0">
              <a:buFont typeface="Arial"/>
              <a:buNone/>
            </a:pPr>
            <a:endParaRPr lang="en-US" sz="1800" b="1" kern="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700" kern="0" dirty="0">
                <a:latin typeface="+mn-lt"/>
              </a:rPr>
              <a:t>Most Frequently Used Medicines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700" kern="0" dirty="0">
                <a:latin typeface="+mn-lt"/>
              </a:rPr>
              <a:t>Most Common Diagnoses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700" kern="0" dirty="0">
                <a:latin typeface="+mn-lt"/>
              </a:rPr>
              <a:t>Monthly Hospital Charges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700" kern="0" dirty="0">
                <a:latin typeface="+mn-lt"/>
              </a:rPr>
              <a:t>Procedure Cost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700" kern="0" dirty="0">
                <a:latin typeface="+mn-lt"/>
              </a:rPr>
              <a:t>Mortality Records</a:t>
            </a:r>
            <a:endParaRPr lang="en-IN" sz="1700" kern="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700" kern="0" dirty="0">
                <a:latin typeface="+mn-lt"/>
              </a:rPr>
              <a:t>Billing Performance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700" kern="0" dirty="0">
                <a:latin typeface="+mn-lt"/>
              </a:rPr>
              <a:t>Healthcare Trend Monitoring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07C6C3-F9D5-977C-4493-A9CE43A8C960}"/>
              </a:ext>
            </a:extLst>
          </p:cNvPr>
          <p:cNvSpPr txBox="1"/>
          <p:nvPr/>
        </p:nvSpPr>
        <p:spPr>
          <a:xfrm>
            <a:off x="637535" y="4849764"/>
            <a:ext cx="10916929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Business Value:</a:t>
            </a:r>
          </a:p>
          <a:p>
            <a:endParaRPr lang="en-U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700" dirty="0">
                <a:ea typeface="Calibri" panose="020F0502020204030204" pitchFamily="34" charset="0"/>
                <a:cs typeface="Calibri" panose="020F0502020204030204" pitchFamily="34" charset="0"/>
              </a:rPr>
              <a:t>Provides centralized visibility into patient flow and healthcare operations, enabling management teams to identify trends faster, compare departments, monitor KPIs, and support data-driven operational decisions.</a:t>
            </a:r>
          </a:p>
          <a:p>
            <a:endParaRPr lang="en-IN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17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66FEB-C506-B633-B571-74BD1B7C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DFDEDA-4056-E6D4-E218-6B77FE6A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AI-POWERED HEALTHCARE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B2DE3-21D1-9C07-9875-F175B72B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581E747-7021-5F34-E018-72738CE70FC7}"/>
              </a:ext>
            </a:extLst>
          </p:cNvPr>
          <p:cNvSpPr txBox="1">
            <a:spLocks/>
          </p:cNvSpPr>
          <p:nvPr/>
        </p:nvSpPr>
        <p:spPr>
          <a:xfrm>
            <a:off x="6614673" y="1137600"/>
            <a:ext cx="4598157" cy="3864564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1800" b="1" dirty="0">
                <a:latin typeface="+mn-lt"/>
              </a:rPr>
              <a:t>AI Generated Outputs</a:t>
            </a:r>
          </a:p>
          <a:p>
            <a:pPr marL="203195" indent="0">
              <a:buNone/>
            </a:pPr>
            <a:endParaRPr lang="en-US" sz="1700" b="1" kern="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>
                <a:latin typeface="+mn-lt"/>
              </a:rPr>
              <a:t>Direct Answers to Healthcare Questions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>
                <a:latin typeface="+mn-lt"/>
              </a:rPr>
              <a:t>Key Operational Insights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>
                <a:latin typeface="+mn-lt"/>
              </a:rPr>
              <a:t>Monthly Trend Findings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>
                <a:latin typeface="+mn-lt"/>
              </a:rPr>
              <a:t>Department Comparisons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400" dirty="0">
                <a:latin typeface="+mn-lt"/>
              </a:rPr>
              <a:t>Anomaly Explanations</a:t>
            </a:r>
            <a:endParaRPr lang="en-IN" sz="14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1400" b="1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1400" b="1" dirty="0">
              <a:latin typeface="+mn-lt"/>
            </a:endParaRPr>
          </a:p>
          <a:p>
            <a:pPr marL="203195" indent="0">
              <a:lnSpc>
                <a:spcPct val="150000"/>
              </a:lnSpc>
              <a:buNone/>
            </a:pPr>
            <a:r>
              <a:rPr lang="en-US" sz="1800" b="1" dirty="0">
                <a:latin typeface="+mn-lt"/>
              </a:rPr>
              <a:t>Management-Friendly Summaries</a:t>
            </a:r>
          </a:p>
          <a:p>
            <a:pPr marL="203195" indent="0">
              <a:lnSpc>
                <a:spcPct val="150000"/>
              </a:lnSpc>
              <a:buNone/>
            </a:pPr>
            <a:endParaRPr lang="en-US" sz="1800" b="1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sz="1400" dirty="0">
                <a:latin typeface="+mn-lt"/>
              </a:rPr>
              <a:t>AI Role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400" dirty="0">
                <a:latin typeface="+mn-lt"/>
              </a:rPr>
              <a:t>Generates clear healthcare operations answers by transforming SQL results, KPI calculations, trend analysis and anomaly findings into management-friendly summaries using Google Gemini.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726687-8CF0-6A85-AC6D-C36FD39748A5}"/>
              </a:ext>
            </a:extLst>
          </p:cNvPr>
          <p:cNvSpPr txBox="1"/>
          <p:nvPr/>
        </p:nvSpPr>
        <p:spPr>
          <a:xfrm>
            <a:off x="516671" y="5344754"/>
            <a:ext cx="1091692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Business Value:</a:t>
            </a:r>
            <a:endParaRPr lang="en-U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700" dirty="0">
                <a:ea typeface="Calibri" panose="020F0502020204030204" pitchFamily="34" charset="0"/>
                <a:cs typeface="Calibri" panose="020F0502020204030204" pitchFamily="34" charset="0"/>
              </a:rPr>
              <a:t>Converts complex healthcare database results into simple, management-friendly insights without requiring users to manually write SQL queries or interpret raw database outputs.</a:t>
            </a:r>
            <a:endParaRPr lang="en-IN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1F44C6-D5D0-B44A-756E-480A2127C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70"/>
          <a:stretch>
            <a:fillRect/>
          </a:stretch>
        </p:blipFill>
        <p:spPr>
          <a:xfrm>
            <a:off x="637535" y="1066970"/>
            <a:ext cx="5420481" cy="396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822A6-C868-28B2-4A5C-3B21A9045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84E18D-168E-4F50-2E1E-CA8811F1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BUSINESS VALUE &amp; BENEFITS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F9511-5F76-A6B2-3FCD-23209FB1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56045-201B-DBE0-D6D6-D28180A11128}"/>
              </a:ext>
            </a:extLst>
          </p:cNvPr>
          <p:cNvSpPr txBox="1"/>
          <p:nvPr/>
        </p:nvSpPr>
        <p:spPr>
          <a:xfrm>
            <a:off x="637535" y="4818986"/>
            <a:ext cx="1091692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Business Impact</a:t>
            </a:r>
          </a:p>
          <a:p>
            <a:endParaRPr lang="en-US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700" dirty="0">
                <a:ea typeface="Calibri" panose="020F0502020204030204" pitchFamily="34" charset="0"/>
                <a:cs typeface="Calibri" panose="020F0502020204030204" pitchFamily="34" charset="0"/>
              </a:rPr>
              <a:t>The AI Healthcare Analytics Agent automates SQL analysis, KPI calculations, trend analysis, anomaly detection, and AI-generated reporting.</a:t>
            </a:r>
            <a:endParaRPr lang="en-IN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7E4E7F49-28B3-7111-5C7B-F51B3847A3A2}"/>
              </a:ext>
            </a:extLst>
          </p:cNvPr>
          <p:cNvSpPr txBox="1">
            <a:spLocks/>
          </p:cNvSpPr>
          <p:nvPr/>
        </p:nvSpPr>
        <p:spPr>
          <a:xfrm>
            <a:off x="758400" y="1300350"/>
            <a:ext cx="4928621" cy="3145920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Font typeface="Arial"/>
              <a:buNone/>
            </a:pPr>
            <a:r>
              <a:rPr lang="en-US" sz="1800" b="1" kern="0" dirty="0">
                <a:latin typeface="+mn-lt"/>
              </a:rPr>
              <a:t>Operational Benefits</a:t>
            </a:r>
          </a:p>
          <a:p>
            <a:pPr marL="203195" indent="0">
              <a:buFont typeface="Arial"/>
              <a:buNone/>
            </a:pPr>
            <a:endParaRPr lang="en-US" sz="1700" b="1" kern="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Automated Healthcare KPI Monitoring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Reduced Manual Analysis Effort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Faster Patient Trend Detection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Department Performance Visibility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Automated Healthcare Reporting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Centralized Healthcare Analytics</a:t>
            </a:r>
            <a:endParaRPr lang="en-US" sz="1700" dirty="0">
              <a:latin typeface="+mn-lt"/>
            </a:endParaRP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35773176-71D4-48F4-28BD-3C567BC5E784}"/>
              </a:ext>
            </a:extLst>
          </p:cNvPr>
          <p:cNvSpPr txBox="1">
            <a:spLocks/>
          </p:cNvSpPr>
          <p:nvPr/>
        </p:nvSpPr>
        <p:spPr>
          <a:xfrm>
            <a:off x="6504981" y="1300350"/>
            <a:ext cx="4928619" cy="3400503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Font typeface="Arial"/>
              <a:buNone/>
            </a:pPr>
            <a:r>
              <a:rPr lang="en-US" sz="1800" b="1" kern="0" dirty="0">
                <a:latin typeface="+mn-lt"/>
              </a:rPr>
              <a:t>Strategic Benefits</a:t>
            </a:r>
          </a:p>
          <a:p>
            <a:pPr marL="203195" indent="0">
              <a:buFont typeface="Arial"/>
              <a:buNone/>
            </a:pPr>
            <a:endParaRPr lang="en-US" sz="1700" b="1" kern="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Faster Operational Decision-Making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AI-Powered Healthcare Insights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Improved Management Visibility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Scalable Healthcare Analytics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Data-Driven Resource Planning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Better Understanding of Patient Demand</a:t>
            </a:r>
          </a:p>
        </p:txBody>
      </p:sp>
    </p:spTree>
    <p:extLst>
      <p:ext uri="{BB962C8B-B14F-4D97-AF65-F5344CB8AC3E}">
        <p14:creationId xmlns:p14="http://schemas.microsoft.com/office/powerpoint/2010/main" val="295053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A0037-C33D-FF80-0DB5-BC1FACAF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C9C8BB-F11E-67E8-E464-500BBA25A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559" y="0"/>
            <a:ext cx="10882882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LIVE DEMONSTRATION &amp; PROJECT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39794-95D4-63A5-1AB3-B67BCB21D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13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97B116E-209A-26B3-67E6-FF25E9F99ADE}"/>
              </a:ext>
            </a:extLst>
          </p:cNvPr>
          <p:cNvSpPr txBox="1">
            <a:spLocks/>
          </p:cNvSpPr>
          <p:nvPr/>
        </p:nvSpPr>
        <p:spPr>
          <a:xfrm>
            <a:off x="654559" y="1372838"/>
            <a:ext cx="5648553" cy="3864564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1800" b="1" dirty="0">
                <a:latin typeface="+mn-lt"/>
              </a:rPr>
              <a:t>Project Resources</a:t>
            </a:r>
          </a:p>
          <a:p>
            <a:pPr marL="203195" indent="0">
              <a:buNone/>
            </a:pPr>
            <a:endParaRPr lang="en-IN" sz="1700" b="1" dirty="0">
              <a:latin typeface="+mn-lt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  <a:ea typeface="Calibri" panose="020F0502020204030204" pitchFamily="34" charset="0"/>
              </a:rPr>
              <a:t>n8n Healthcare Analytics Form</a:t>
            </a:r>
          </a:p>
          <a:p>
            <a:pPr marL="812780" lvl="1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70C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Healthcare Analytics Agent Workflow</a:t>
            </a:r>
            <a:endParaRPr lang="en-IN" dirty="0">
              <a:solidFill>
                <a:srgbClr val="0070C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  <a:ea typeface="Calibri" panose="020F0502020204030204" pitchFamily="34" charset="0"/>
              </a:rPr>
              <a:t>Microsoft SQL Server Healthcare Database</a:t>
            </a:r>
          </a:p>
          <a:p>
            <a:pPr marL="812780" lvl="1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70C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Synthetic Healthcare Dataset</a:t>
            </a:r>
            <a:endParaRPr lang="en-IN" dirty="0">
              <a:solidFill>
                <a:srgbClr val="0070C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  <a:ea typeface="Calibri" panose="020F0502020204030204" pitchFamily="34" charset="0"/>
              </a:rPr>
              <a:t>Healthcare KPI &amp; Trend Analysis</a:t>
            </a:r>
          </a:p>
          <a:p>
            <a:pPr marL="812780" lvl="1" indent="0">
              <a:lnSpc>
                <a:spcPct val="150000"/>
              </a:lnSpc>
              <a:buNone/>
            </a:pPr>
            <a:r>
              <a:rPr lang="en-IN" u="sng" dirty="0">
                <a:solidFill>
                  <a:srgbClr val="0070C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Automated Gmail Reporting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  <a:ea typeface="Calibri" panose="020F0502020204030204" pitchFamily="34" charset="0"/>
              </a:rPr>
              <a:t>Project Presentation</a:t>
            </a:r>
          </a:p>
          <a:p>
            <a:pPr marL="812780" lvl="1" indent="0">
              <a:lnSpc>
                <a:spcPct val="150000"/>
              </a:lnSpc>
              <a:buNone/>
            </a:pPr>
            <a:endParaRPr lang="en-IN" dirty="0">
              <a:solidFill>
                <a:srgbClr val="0070C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8D3ED5-9E3C-66FD-9776-9DE4B6E03DE1}"/>
              </a:ext>
            </a:extLst>
          </p:cNvPr>
          <p:cNvSpPr txBox="1"/>
          <p:nvPr/>
        </p:nvSpPr>
        <p:spPr>
          <a:xfrm>
            <a:off x="844647" y="5485162"/>
            <a:ext cx="109169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All outputs shown in this project are generated automatically through the n8n healthcare analytics workflow using the connected Microsoft SQL Server healthcare database and AI analysis pipeline.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F691D-4884-9230-1A37-3007CA96B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975" y="1503793"/>
            <a:ext cx="4439270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92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F80C-A74C-B980-73D4-D296A9BB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D5FCAD-7337-B160-49E7-BDD0C696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/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CONCLUSION &amp; KEY ACHIEVEMENTS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09E52-2BE3-C55B-4E17-DFFF6FEFA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FD9E7C-7E64-38CB-C97F-C7BA739098B6}"/>
              </a:ext>
            </a:extLst>
          </p:cNvPr>
          <p:cNvSpPr txBox="1"/>
          <p:nvPr/>
        </p:nvSpPr>
        <p:spPr>
          <a:xfrm>
            <a:off x="637535" y="4865999"/>
            <a:ext cx="109169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The AI Healthcare Analytics Agent successfully automates the healthcare operations analytics lifecycle by transforming structured hospital data into actionable insights, trend analysis, anomaly findings, and management-friendly answers through an AI-powered n8n workflow.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D1A18DB-B10F-2872-2B5D-9ED3DB2B1216}"/>
              </a:ext>
            </a:extLst>
          </p:cNvPr>
          <p:cNvSpPr txBox="1">
            <a:spLocks/>
          </p:cNvSpPr>
          <p:nvPr/>
        </p:nvSpPr>
        <p:spPr>
          <a:xfrm>
            <a:off x="758400" y="1300350"/>
            <a:ext cx="4928621" cy="3864564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1800" b="1" dirty="0">
                <a:latin typeface="+mn-lt"/>
              </a:rPr>
              <a:t>Successfully Developed</a:t>
            </a:r>
          </a:p>
          <a:p>
            <a:pPr marL="203195" indent="0">
              <a:buNone/>
            </a:pPr>
            <a:endParaRPr lang="en-US" sz="1700" b="1" kern="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AI Healthcare Analytics Agent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End-to-End n8n Workflow Automation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Dynamic SQL Query Planning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Healthcare KPI Analytics Engine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Trend Analysis &amp; Anomaly Detection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AI-Powered Insight Generation</a:t>
            </a:r>
            <a:endParaRPr lang="en-US" sz="1700" dirty="0">
              <a:latin typeface="+mn-lt"/>
            </a:endParaRP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76E68E87-60D9-E557-666A-4B3DD22AE737}"/>
              </a:ext>
            </a:extLst>
          </p:cNvPr>
          <p:cNvSpPr txBox="1">
            <a:spLocks/>
          </p:cNvSpPr>
          <p:nvPr/>
        </p:nvSpPr>
        <p:spPr>
          <a:xfrm>
            <a:off x="6504981" y="1300350"/>
            <a:ext cx="4928619" cy="3864564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1800" b="1" dirty="0">
                <a:latin typeface="+mn-lt"/>
              </a:rPr>
              <a:t>Business Outcomes Delivered</a:t>
            </a:r>
          </a:p>
          <a:p>
            <a:pPr marL="203195" indent="0">
              <a:buNone/>
            </a:pPr>
            <a:endParaRPr lang="en-US" sz="1700" b="1" kern="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Automated Healthcare KPI Monitoring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Faster Patient Trend Identification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Department Performance Visibility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Reduced Manual SQL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AI-Powered Operational Insights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700" dirty="0">
                <a:latin typeface="+mn-lt"/>
              </a:rPr>
              <a:t>Automated Email Reporting</a:t>
            </a:r>
            <a:endParaRPr lang="en-US" sz="17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3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6"/>
          <p:cNvSpPr txBox="1">
            <a:spLocks noGrp="1"/>
          </p:cNvSpPr>
          <p:nvPr>
            <p:ph type="subTitle" idx="1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dirty="0">
                <a:solidFill>
                  <a:srgbClr val="00589A"/>
                </a:solidFill>
                <a:latin typeface="+mj-lt"/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B4CE17-EBBE-C8C5-CB0E-E6755F5559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65677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16990</TotalTime>
  <Words>840</Words>
  <Application>Microsoft Office PowerPoint</Application>
  <PresentationFormat>Widescreen</PresentationFormat>
  <Paragraphs>194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Open Sans</vt:lpstr>
      <vt:lpstr>PT Sans Narrow</vt:lpstr>
      <vt:lpstr>Raleway</vt:lpstr>
      <vt:lpstr>Wingdings</vt:lpstr>
      <vt:lpstr>Tropic</vt:lpstr>
      <vt:lpstr>PowerPoint Presentation</vt:lpstr>
      <vt:lpstr>AGENDA</vt:lpstr>
      <vt:lpstr>PROBLEM STATEMENT</vt:lpstr>
      <vt:lpstr>PROJECT OBJECTIVES</vt:lpstr>
      <vt:lpstr>SOLUTION ARCHITECTURE</vt:lpstr>
      <vt:lpstr>TECHNOLOGY STACK</vt:lpstr>
      <vt:lpstr>HEALTHCARE DATA SOURCES &amp; DATA MODEL</vt:lpstr>
      <vt:lpstr>WORKFLOW IMPLEMENTATION IN N8N</vt:lpstr>
      <vt:lpstr>HEALTHCARE KPI ANALYTICS &amp; ANOMALY DETECTION</vt:lpstr>
      <vt:lpstr>PATIENT &amp; DEPARTMENT PERFORMANCE</vt:lpstr>
      <vt:lpstr>AI-POWERED HEALTHCARE ANALYSIS</vt:lpstr>
      <vt:lpstr>BUSINESS VALUE &amp; BENEFITS</vt:lpstr>
      <vt:lpstr>LIVE DEMONSTRATION &amp; PROJECT RESOURCES</vt:lpstr>
      <vt:lpstr>CONCLUSION &amp; KEY ACHIEVEMENTS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ekta grewal</cp:lastModifiedBy>
  <cp:revision>130</cp:revision>
  <dcterms:created xsi:type="dcterms:W3CDTF">2025-04-04T02:52:34Z</dcterms:created>
  <dcterms:modified xsi:type="dcterms:W3CDTF">2026-09-30T18:20:03Z</dcterms:modified>
</cp:coreProperties>
</file>